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tags/tag12.xml" ContentType="application/vnd.openxmlformats-officedocument.presentationml.tag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9" r:id="rId9"/>
    <p:sldId id="263" r:id="rId10"/>
    <p:sldId id="282" r:id="rId11"/>
    <p:sldId id="265" r:id="rId12"/>
    <p:sldId id="284" r:id="rId13"/>
    <p:sldId id="288" r:id="rId14"/>
    <p:sldId id="285" r:id="rId15"/>
    <p:sldId id="286" r:id="rId16"/>
    <p:sldId id="287" r:id="rId17"/>
    <p:sldId id="290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89" r:id="rId26"/>
    <p:sldId id="274" r:id="rId27"/>
    <p:sldId id="27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17A1E-D441-4806-9E20-7AC5F45011D8}" v="7" dt="2026-03-23T17:30:56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1" autoAdjust="0"/>
    <p:restoredTop sz="94660"/>
  </p:normalViewPr>
  <p:slideViewPr>
    <p:cSldViewPr snapToGrid="0">
      <p:cViewPr varScale="1">
        <p:scale>
          <a:sx n="72" d="100"/>
          <a:sy n="72" d="100"/>
        </p:scale>
        <p:origin x="-60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Desai" userId="b9e250b2f0ad9469" providerId="LiveId" clId="{CA754355-B5FD-4560-B40B-65261D008431}"/>
    <pc:docChg chg="undo custSel delSld modSld">
      <pc:chgData name="Vaishnavi Desai" userId="b9e250b2f0ad9469" providerId="LiveId" clId="{CA754355-B5FD-4560-B40B-65261D008431}" dt="2026-03-23T18:03:04.187" v="64" actId="14100"/>
      <pc:docMkLst>
        <pc:docMk/>
      </pc:docMkLst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56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56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7:30:41.353" v="47"/>
        <pc:sldMkLst>
          <pc:docMk/>
          <pc:sldMk cId="0" sldId="257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57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22:59.125" v="1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58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58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7:30:41.353" v="47"/>
        <pc:sldMkLst>
          <pc:docMk/>
          <pc:sldMk cId="0" sldId="259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59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22:59.125" v="2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7:30:41.353" v="47"/>
        <pc:sldMkLst>
          <pc:docMk/>
          <pc:sldMk cId="0" sldId="263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63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Vaishnavi Desai" userId="b9e250b2f0ad9469" providerId="LiveId" clId="{CA754355-B5FD-4560-B40B-65261D008431}" dt="2026-03-23T17:26:12.327" v="45" actId="47"/>
        <pc:sldMkLst>
          <pc:docMk/>
          <pc:sldMk cId="0" sldId="264"/>
        </pc:sldMkLst>
      </pc:sldChg>
      <pc:sldChg chg="modSp mod">
        <pc:chgData name="Vaishnavi Desai" userId="b9e250b2f0ad9469" providerId="LiveId" clId="{CA754355-B5FD-4560-B40B-65261D008431}" dt="2026-03-23T17:30:41.353" v="47"/>
        <pc:sldMkLst>
          <pc:docMk/>
          <pc:sldMk cId="0" sldId="265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65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24:27.982" v="44" actId="20577"/>
          <ac:spMkLst>
            <pc:docMk/>
            <pc:sldMk cId="0" sldId="265"/>
            <ac:spMk id="9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66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7:30:41.353" v="47"/>
        <pc:sldMkLst>
          <pc:docMk/>
          <pc:sldMk cId="0" sldId="268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68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7:30:41.353" v="47"/>
        <pc:sldMkLst>
          <pc:docMk/>
          <pc:sldMk cId="0" sldId="269"/>
        </pc:sldMkLst>
        <pc:spChg chg="mod">
          <ac:chgData name="Vaishnavi Desai" userId="b9e250b2f0ad9469" providerId="LiveId" clId="{CA754355-B5FD-4560-B40B-65261D008431}" dt="2026-03-23T17:22:59.188" v="10" actId="27636"/>
          <ac:spMkLst>
            <pc:docMk/>
            <pc:sldMk cId="0" sldId="269"/>
            <ac:spMk id="2" creationId="{00000000-0000-0000-0000-000000000000}"/>
          </ac:spMkLst>
        </pc:spChg>
        <pc:picChg chg="mod">
          <ac:chgData name="Vaishnavi Desai" userId="b9e250b2f0ad9469" providerId="LiveId" clId="{CA754355-B5FD-4560-B40B-65261D008431}" dt="2026-03-23T17:30:41.353" v="47"/>
          <ac:picMkLst>
            <pc:docMk/>
            <pc:sldMk cId="0" sldId="269"/>
            <ac:picMk id="4" creationId="{00000000-0000-0000-0000-000000000000}"/>
          </ac:picMkLst>
        </pc:picChg>
        <pc:picChg chg="mod">
          <ac:chgData name="Vaishnavi Desai" userId="b9e250b2f0ad9469" providerId="LiveId" clId="{CA754355-B5FD-4560-B40B-65261D008431}" dt="2026-03-23T17:30:41.353" v="47"/>
          <ac:picMkLst>
            <pc:docMk/>
            <pc:sldMk cId="0" sldId="269"/>
            <ac:picMk id="5" creationId="{00000000-0000-0000-0000-000000000000}"/>
          </ac:picMkLst>
        </pc:pic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70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0"/>
            <ac:spMk id="2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71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1"/>
            <ac:spMk id="2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72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2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2"/>
            <ac:spMk id="3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74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4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4"/>
            <ac:spMk id="3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75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5"/>
            <ac:spMk id="2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76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6"/>
            <ac:spMk id="2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77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7"/>
            <ac:spMk id="2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78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7:30:41.353" v="47"/>
        <pc:sldMkLst>
          <pc:docMk/>
          <pc:sldMk cId="0" sldId="279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9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79"/>
            <ac:spMk id="3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82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82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8:03:04.187" v="64" actId="14100"/>
        <pc:sldMkLst>
          <pc:docMk/>
          <pc:sldMk cId="0" sldId="285"/>
        </pc:sldMkLst>
        <pc:spChg chg="mod">
          <ac:chgData name="Vaishnavi Desai" userId="b9e250b2f0ad9469" providerId="LiveId" clId="{CA754355-B5FD-4560-B40B-65261D008431}" dt="2026-03-23T18:02:05.639" v="54" actId="20577"/>
          <ac:spMkLst>
            <pc:docMk/>
            <pc:sldMk cId="0" sldId="285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8:01:46.378" v="49" actId="14100"/>
          <ac:spMkLst>
            <pc:docMk/>
            <pc:sldMk cId="0" sldId="285"/>
            <ac:spMk id="3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8:02:50.381" v="62" actId="14100"/>
          <ac:spMkLst>
            <pc:docMk/>
            <pc:sldMk cId="0" sldId="285"/>
            <ac:spMk id="4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8:03:04.187" v="64" actId="14100"/>
          <ac:spMkLst>
            <pc:docMk/>
            <pc:sldMk cId="0" sldId="285"/>
            <ac:spMk id="5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8:01:40.319" v="48" actId="1076"/>
          <ac:spMkLst>
            <pc:docMk/>
            <pc:sldMk cId="0" sldId="285"/>
            <ac:spMk id="6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86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86"/>
            <ac:spMk id="2" creationId="{00000000-0000-0000-0000-000000000000}"/>
          </ac:spMkLst>
        </pc:spChg>
      </pc:sldChg>
      <pc:sldChg chg="modSp">
        <pc:chgData name="Vaishnavi Desai" userId="b9e250b2f0ad9469" providerId="LiveId" clId="{CA754355-B5FD-4560-B40B-65261D008431}" dt="2026-03-23T17:30:41.353" v="47"/>
        <pc:sldMkLst>
          <pc:docMk/>
          <pc:sldMk cId="0" sldId="287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87"/>
            <ac:spMk id="2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7:22:59.156" v="6" actId="27636"/>
        <pc:sldMkLst>
          <pc:docMk/>
          <pc:sldMk cId="0" sldId="288"/>
        </pc:sldMkLst>
        <pc:spChg chg="mod">
          <ac:chgData name="Vaishnavi Desai" userId="b9e250b2f0ad9469" providerId="LiveId" clId="{CA754355-B5FD-4560-B40B-65261D008431}" dt="2026-03-23T17:22:59.156" v="6" actId="27636"/>
          <ac:spMkLst>
            <pc:docMk/>
            <pc:sldMk cId="0" sldId="288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22:59.156" v="5" actId="27636"/>
          <ac:spMkLst>
            <pc:docMk/>
            <pc:sldMk cId="0" sldId="288"/>
            <ac:spMk id="3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7:23:29.220" v="12" actId="1035"/>
        <pc:sldMkLst>
          <pc:docMk/>
          <pc:sldMk cId="0" sldId="289"/>
        </pc:sldMkLst>
        <pc:spChg chg="mod">
          <ac:chgData name="Vaishnavi Desai" userId="b9e250b2f0ad9469" providerId="LiveId" clId="{CA754355-B5FD-4560-B40B-65261D008431}" dt="2026-03-23T17:23:29.220" v="12" actId="1035"/>
          <ac:spMkLst>
            <pc:docMk/>
            <pc:sldMk cId="0" sldId="289"/>
            <ac:spMk id="2" creationId="{00000000-0000-0000-0000-000000000000}"/>
          </ac:spMkLst>
        </pc:spChg>
      </pc:sldChg>
      <pc:sldChg chg="modSp mod">
        <pc:chgData name="Vaishnavi Desai" userId="b9e250b2f0ad9469" providerId="LiveId" clId="{CA754355-B5FD-4560-B40B-65261D008431}" dt="2026-03-23T17:30:41.353" v="47"/>
        <pc:sldMkLst>
          <pc:docMk/>
          <pc:sldMk cId="0" sldId="290"/>
        </pc:sldMkLst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90"/>
            <ac:spMk id="2" creationId="{00000000-0000-0000-0000-000000000000}"/>
          </ac:spMkLst>
        </pc:spChg>
        <pc:spChg chg="mod">
          <ac:chgData name="Vaishnavi Desai" userId="b9e250b2f0ad9469" providerId="LiveId" clId="{CA754355-B5FD-4560-B40B-65261D008431}" dt="2026-03-23T17:30:41.353" v="47"/>
          <ac:spMkLst>
            <pc:docMk/>
            <pc:sldMk cId="0" sldId="29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491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502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307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770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193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291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67980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947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66829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8710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5839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600452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0511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68823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7339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9659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3794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5639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Product Review Sentiment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Group Project No. 3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MENTOR &amp; 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71800"/>
            <a:ext cx="10515600" cy="32054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Team Members:</a:t>
            </a:r>
          </a:p>
          <a:p>
            <a:pPr marL="457200" indent="-457200">
              <a:buAutoNum type="arabicPeriod"/>
            </a:pPr>
            <a:r>
              <a:rPr lang="en-US" dirty="0"/>
              <a:t>Leena </a:t>
            </a:r>
            <a:r>
              <a:rPr lang="en-US" dirty="0" smtClean="0"/>
              <a:t>Prakash </a:t>
            </a:r>
            <a:r>
              <a:rPr lang="en-US" dirty="0"/>
              <a:t>C</a:t>
            </a:r>
            <a:r>
              <a:rPr lang="en-US" dirty="0" smtClean="0"/>
              <a:t>haudhari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Anil</a:t>
            </a:r>
          </a:p>
          <a:p>
            <a:pPr marL="457200" indent="-457200">
              <a:buAutoNum type="arabicPeriod"/>
            </a:pPr>
            <a:r>
              <a:rPr lang="en-US" dirty="0"/>
              <a:t>Aditi Akshay Sawant</a:t>
            </a:r>
          </a:p>
          <a:p>
            <a:pPr marL="457200" indent="-457200">
              <a:buAutoNum type="arabicPeriod"/>
            </a:pPr>
            <a:r>
              <a:rPr lang="en-US" dirty="0" smtClean="0"/>
              <a:t>K</a:t>
            </a:r>
            <a:r>
              <a:rPr lang="en-US" dirty="0" smtClean="0"/>
              <a:t>asadi </a:t>
            </a:r>
            <a:r>
              <a:rPr lang="en-US" dirty="0"/>
              <a:t>S</a:t>
            </a:r>
            <a:r>
              <a:rPr lang="en-US" dirty="0" smtClean="0"/>
              <a:t>ai </a:t>
            </a:r>
            <a:r>
              <a:rPr lang="en-US" dirty="0" smtClean="0"/>
              <a:t>T</a:t>
            </a:r>
            <a:r>
              <a:rPr lang="en-US" dirty="0" smtClean="0"/>
              <a:t>eja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Srishakti.Awanti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81075" y="1772920"/>
            <a:ext cx="82359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+mj-lt"/>
              <a:buNone/>
            </a:pPr>
            <a:r>
              <a:rPr lang="en-US" b="1" dirty="0">
                <a:solidFill>
                  <a:srgbClr val="0B1D3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-120"/>
                <a:sym typeface="+mn-ea"/>
              </a:rPr>
              <a:t>Mentors: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B1D3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-120"/>
                <a:sym typeface="+mn-ea"/>
              </a:rPr>
              <a:t>Abhisheka Kavuri </a:t>
            </a:r>
            <a:endParaRPr lang="en-US" dirty="0">
              <a:solidFill>
                <a:srgbClr val="0B1D3A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B1D3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-120"/>
                <a:sym typeface="+mn-ea"/>
              </a:rPr>
              <a:t>Kartik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charset="0"/>
                <a:ea typeface="Inter Bold" pitchFamily="34" charset="-122"/>
                <a:cs typeface="Times New Roman" panose="02020603050405020304" charset="0"/>
                <a:sym typeface="+mn-ea"/>
              </a:rPr>
              <a:t>Project Objectives: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To collect and preprocess customer reviews.</a:t>
            </a:r>
          </a:p>
          <a:p>
            <a:r>
              <a:rPr lang="en-US" altLang="en-US"/>
              <a:t>To convert text data into numerical format using TF-IDF.</a:t>
            </a:r>
          </a:p>
          <a:p>
            <a:r>
              <a:rPr lang="en-US" altLang="en-US"/>
              <a:t>To build a sentiment classification model using SVM.</a:t>
            </a:r>
          </a:p>
          <a:p>
            <a:r>
              <a:rPr lang="en-US" altLang="en-US"/>
              <a:t>To classify reviews into positive, neutral, and negative sentiments.</a:t>
            </a:r>
          </a:p>
          <a:p>
            <a:r>
              <a:rPr lang="en-US" altLang="en-US"/>
              <a:t>To develop a Streamlit application for real-time sentiment prediction and business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DATASET DETAILS: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2606675" cy="1355725"/>
          </a:xfrm>
          <a:solidFill>
            <a:schemeClr val="accent1"/>
          </a:solidFill>
        </p:spPr>
        <p:txBody>
          <a:bodyPr>
            <a:normAutofit fontScale="32500" lnSpcReduction="20000"/>
          </a:bodyPr>
          <a:lstStyle/>
          <a:p>
            <a:pPr marL="0" indent="0" algn="ctr">
              <a:buNone/>
            </a:pPr>
            <a:r>
              <a:rPr lang="en-US" altLang="en-US" sz="6000" b="1"/>
              <a:t>2704</a:t>
            </a:r>
            <a:endParaRPr lang="en-US" altLang="en-US" sz="6000"/>
          </a:p>
          <a:p>
            <a:pPr marL="0" indent="0">
              <a:buNone/>
            </a:pPr>
            <a:r>
              <a:rPr lang="en-US" altLang="en-US" sz="4500"/>
              <a:t>Reviews / Observations Customer reviews collected from Amazon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616960" y="1845945"/>
            <a:ext cx="2479040" cy="133540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b="1"/>
              <a:t>2–3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Input Columns</a:t>
            </a:r>
          </a:p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051925" y="1816735"/>
            <a:ext cx="2524125" cy="133604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b="1"/>
              <a:t>3</a:t>
            </a:r>
          </a:p>
          <a:p>
            <a:pPr algn="ctr"/>
            <a:r>
              <a:rPr lang="en-US" altLang="en-US"/>
              <a:t>Key Categories</a:t>
            </a:r>
          </a:p>
          <a:p>
            <a:pPr algn="ctr"/>
            <a:r>
              <a:rPr lang="en-US" altLang="en-US"/>
              <a:t>Positive, Neutral, Negative sentiments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46050" y="4274820"/>
            <a:ext cx="7839710" cy="2583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838200" y="4538345"/>
          <a:ext cx="10485120" cy="1005840"/>
        </p:xfrm>
        <a:graphic>
          <a:graphicData uri="http://schemas.openxmlformats.org/drawingml/2006/table">
            <a:tbl>
              <a:tblPr/>
              <a:tblGrid>
                <a:gridCol w="34950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950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4950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/>
          <p:nvPr/>
        </p:nvGraphicFramePr>
        <p:xfrm>
          <a:off x="1667510" y="3795395"/>
          <a:ext cx="8532495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441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441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Short headline of the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/>
                        <a:t>Full review given by customer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Integer(1-5)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Star rating provided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Review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Derived 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Combined text (title + body)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Positive / Neutral /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5" name="Text Box 14"/>
          <p:cNvSpPr txBox="1"/>
          <p:nvPr/>
        </p:nvSpPr>
        <p:spPr>
          <a:xfrm>
            <a:off x="6330315" y="1816735"/>
            <a:ext cx="2359025" cy="1336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b="1"/>
              <a:t>80/20</a:t>
            </a:r>
          </a:p>
          <a:p>
            <a:endParaRPr lang="en-US" altLang="en-US"/>
          </a:p>
          <a:p>
            <a:pPr algn="ctr"/>
            <a:r>
              <a:rPr lang="en-US" altLang="en-US"/>
              <a:t>Train/Test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EDA-Rating Distribution: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890" y="1825625"/>
            <a:ext cx="5646420" cy="435165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752080" y="1443355"/>
            <a:ext cx="3237865" cy="4606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b="1"/>
              <a:t>KEY 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5</a:t>
            </a:r>
            <a:r>
              <a:rPr lang="zh-CN" altLang="en-US" sz="1200"/>
              <a:t>★</a:t>
            </a:r>
            <a:r>
              <a:rPr lang="en-US" altLang="en-US"/>
              <a:t> reviews dominate, contributing around 51% of total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Only 17% of reviews fall under 1</a:t>
            </a:r>
            <a:r>
              <a:rPr lang="zh-CN" altLang="en-US" sz="1200"/>
              <a:t>★</a:t>
            </a:r>
            <a:r>
              <a:rPr lang="en-US" altLang="en-US"/>
              <a:t>–2</a:t>
            </a:r>
            <a:r>
              <a:rPr lang="zh-CN" altLang="en-US" sz="1200"/>
              <a:t>★</a:t>
            </a:r>
            <a:r>
              <a:rPr lang="en-US" altLang="en-US"/>
              <a:t> (negative 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Dataset is imbalanced with a higher proportion of positive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Average rating is approximately 4.1 / 5.0, indicating positive sentiment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Class imbalance should be considered during model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EDA-SENTIMENT DISTRIBUTION:</a:t>
            </a:r>
          </a:p>
        </p:txBody>
      </p:sp>
      <p:pic>
        <p:nvPicPr>
          <p:cNvPr id="4" name="Content Placeholder 3" descr="sentiment_distribution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200" y="1825625"/>
            <a:ext cx="5801995" cy="43516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617460" y="1691005"/>
            <a:ext cx="4064000" cy="3654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b="1"/>
              <a:t>KEY 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Positive class dominates with around 71% of total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Neutral class is the smallest (around 12%)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Negative class represents about 17% of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Dataset shows strong class imbalance toward positive sentiment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Neutral class is harder to classify due to similarity with positive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Evaluation metrics like F1-score and Recall are important due to 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EDA-REVIEW LENGTH DISTRIBUTION:</a:t>
            </a:r>
          </a:p>
        </p:txBody>
      </p:sp>
      <p:pic>
        <p:nvPicPr>
          <p:cNvPr id="5" name="Content Placeholder 4" descr="review_length_distribution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890" y="1825625"/>
            <a:ext cx="5801995" cy="435165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696835" y="1691005"/>
            <a:ext cx="3920490" cy="4208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b="1"/>
              <a:t>KEY 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Majority of reviews fall in the shorter length range (0–50 words)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Very few reviews are extremely long (above 100 words)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Short reviews are quick opinions, while longer reviews provide detailed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Extremely short reviews may lack meaningful sentiment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Moderate-length reviews are most useful for accurate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Controlling review length helps improve model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ym typeface="+mn-ea"/>
              </a:rPr>
              <a:t>Text Preprocessing Pipeline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Converted text to lowercase for consistency</a:t>
            </a:r>
          </a:p>
          <a:p>
            <a:r>
              <a:rPr lang="en-US" altLang="en-US"/>
              <a:t>Removed special characters, punctuation, and emojis</a:t>
            </a:r>
          </a:p>
          <a:p>
            <a:r>
              <a:rPr lang="en-US" altLang="en-US"/>
              <a:t>Eliminated stopwords (e.g., is, the, and)</a:t>
            </a:r>
          </a:p>
          <a:p>
            <a:r>
              <a:rPr lang="en-US" altLang="en-US"/>
              <a:t>Applied tokenization to split text into words</a:t>
            </a:r>
          </a:p>
          <a:p>
            <a:r>
              <a:rPr lang="en-US" altLang="en-US"/>
              <a:t>Performed lemmatization for word normalization</a:t>
            </a:r>
          </a:p>
          <a:p>
            <a:r>
              <a:rPr lang="en-US" altLang="en-US"/>
              <a:t>Removed duplicate and irrelevant reviews</a:t>
            </a:r>
          </a:p>
          <a:p>
            <a:r>
              <a:rPr lang="en-US" altLang="en-US"/>
              <a:t>Converted cleaned text into numerical form using TF-IDF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FEATURE ENGINEERING: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Identified important words from customer reviews</a:t>
            </a:r>
          </a:p>
          <a:p>
            <a:r>
              <a:rPr lang="en-US" altLang="en-US"/>
              <a:t>Converted text data into numerical form using TF-IDF</a:t>
            </a:r>
          </a:p>
          <a:p>
            <a:r>
              <a:rPr lang="en-US" altLang="en-US"/>
              <a:t>Focused on word frequency and importance</a:t>
            </a:r>
          </a:p>
          <a:p>
            <a:r>
              <a:rPr lang="en-US" altLang="en-US"/>
              <a:t>Removed low-frequency and irrelevant words</a:t>
            </a:r>
          </a:p>
          <a:p>
            <a:r>
              <a:rPr lang="en-US" altLang="en-US"/>
              <a:t>Normalized text for consistency</a:t>
            </a:r>
          </a:p>
          <a:p>
            <a:r>
              <a:rPr lang="en-US" altLang="en-US"/>
              <a:t>Improved feature quality for model training</a:t>
            </a:r>
          </a:p>
          <a:p>
            <a:r>
              <a:rPr lang="en-US" altLang="en-US"/>
              <a:t>Enhanced sentiment prediction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B1D3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Train-Test Split Strategy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Split dataset into training and testing sets</a:t>
            </a:r>
          </a:p>
          <a:p>
            <a:r>
              <a:rPr lang="en-US" altLang="en-US"/>
              <a:t>Used 80% data for training and 20% for testing</a:t>
            </a:r>
          </a:p>
          <a:p>
            <a:r>
              <a:rPr lang="en-US" altLang="en-US"/>
              <a:t>Ensured random and unbiased data distribution</a:t>
            </a:r>
          </a:p>
          <a:p>
            <a:r>
              <a:rPr lang="en-US" altLang="en-US"/>
              <a:t>Maintained class balance across both sets</a:t>
            </a:r>
          </a:p>
          <a:p>
            <a:r>
              <a:rPr lang="en-US" altLang="en-US"/>
              <a:t>Used training data to build the model</a:t>
            </a:r>
          </a:p>
          <a:p>
            <a:r>
              <a:rPr lang="en-US" altLang="en-US"/>
              <a:t>Used testing data to evaluate model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MODEL BUILDING: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930" y="1825625"/>
            <a:ext cx="10643870" cy="4351655"/>
          </a:xfrm>
        </p:spPr>
        <p:txBody>
          <a:bodyPr/>
          <a:lstStyle/>
          <a:p>
            <a:endParaRPr lang="en-US" altLang="en-US" sz="1800"/>
          </a:p>
        </p:txBody>
      </p:sp>
      <p:sp>
        <p:nvSpPr>
          <p:cNvPr id="6" name="Shape 4"/>
          <p:cNvSpPr/>
          <p:nvPr/>
        </p:nvSpPr>
        <p:spPr>
          <a:xfrm>
            <a:off x="838200" y="2222500"/>
            <a:ext cx="1572768" cy="2743200"/>
          </a:xfrm>
          <a:prstGeom prst="rect">
            <a:avLst/>
          </a:prstGeom>
          <a:solidFill>
            <a:srgbClr val="6366F1">
              <a:alpha val="22000"/>
            </a:srgbClr>
          </a:solidFill>
          <a:ln w="254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4"/>
          <p:cNvSpPr/>
          <p:nvPr/>
        </p:nvSpPr>
        <p:spPr>
          <a:xfrm>
            <a:off x="2783205" y="2222500"/>
            <a:ext cx="1572768" cy="2743200"/>
          </a:xfrm>
          <a:prstGeom prst="rect">
            <a:avLst/>
          </a:prstGeom>
          <a:solidFill>
            <a:srgbClr val="6366F1">
              <a:alpha val="22000"/>
            </a:srgbClr>
          </a:solidFill>
          <a:ln w="254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8618220" y="2222500"/>
            <a:ext cx="1572768" cy="2743200"/>
          </a:xfrm>
          <a:prstGeom prst="rect">
            <a:avLst/>
          </a:prstGeom>
          <a:solidFill>
            <a:srgbClr val="6366F1">
              <a:alpha val="22000"/>
            </a:srgbClr>
          </a:solidFill>
          <a:ln w="254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28460" y="2222500"/>
            <a:ext cx="1572768" cy="2743200"/>
          </a:xfrm>
          <a:prstGeom prst="rect">
            <a:avLst/>
          </a:prstGeom>
          <a:solidFill>
            <a:srgbClr val="6366F1">
              <a:alpha val="22000"/>
            </a:srgbClr>
          </a:solidFill>
          <a:ln w="254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728210" y="2222500"/>
            <a:ext cx="1572768" cy="2743200"/>
          </a:xfrm>
          <a:prstGeom prst="rect">
            <a:avLst/>
          </a:prstGeom>
          <a:solidFill>
            <a:srgbClr val="6366F1">
              <a:alpha val="22000"/>
            </a:srgbClr>
          </a:solidFill>
          <a:ln w="254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Box 8"/>
          <p:cNvSpPr txBox="1"/>
          <p:nvPr/>
        </p:nvSpPr>
        <p:spPr>
          <a:xfrm>
            <a:off x="971550" y="2424430"/>
            <a:ext cx="1438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Logistic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1550" y="3580130"/>
            <a:ext cx="1274445" cy="6292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971550" y="3580130"/>
            <a:ext cx="1179195" cy="629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>
                <a:sym typeface="+mn-ea"/>
              </a:rPr>
              <a:t>Accuracy</a:t>
            </a:r>
            <a:endParaRPr lang="en-US" b="1"/>
          </a:p>
          <a:p>
            <a:r>
              <a:rPr lang="en-US" b="1">
                <a:sym typeface="+mn-ea"/>
              </a:rPr>
              <a:t>      78%</a:t>
            </a:r>
            <a:endParaRPr lang="en-US" b="1"/>
          </a:p>
          <a:p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2913380" y="3580130"/>
            <a:ext cx="1179195" cy="1073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964180" y="3619500"/>
            <a:ext cx="1178560" cy="5657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sym typeface="+mn-ea"/>
              </a:rPr>
              <a:t>Accuracy</a:t>
            </a:r>
            <a:endParaRPr lang="en-US" b="1">
              <a:solidFill>
                <a:schemeClr val="tx1"/>
              </a:solidFill>
            </a:endParaRPr>
          </a:p>
          <a:p>
            <a:pPr algn="ctr"/>
            <a:r>
              <a:rPr lang="en-US" b="1">
                <a:solidFill>
                  <a:schemeClr val="tx1"/>
                </a:solidFill>
                <a:sym typeface="+mn-ea"/>
              </a:rPr>
              <a:t>      71%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3043555" y="2408555"/>
            <a:ext cx="1226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Naive Bayes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8560" y="3580130"/>
            <a:ext cx="1147445" cy="5657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5042535" y="3589020"/>
            <a:ext cx="1076960" cy="532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Accuracy</a:t>
            </a:r>
          </a:p>
          <a:p>
            <a:r>
              <a:rPr lang="en-US"/>
              <a:t>      79%</a:t>
            </a:r>
          </a:p>
          <a:p>
            <a:r>
              <a:rPr lang="en-US"/>
              <a:t>       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4907915" y="2344420"/>
            <a:ext cx="972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SVM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36105" y="3580130"/>
            <a:ext cx="1176655" cy="6203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Accuracy</a:t>
            </a:r>
          </a:p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78 %</a:t>
            </a:r>
            <a:r>
              <a:rPr lang="en-US">
                <a:sym typeface="+mn-ea"/>
              </a:rPr>
              <a:t>     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6964045" y="2360295"/>
            <a:ext cx="1099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Random Forest</a:t>
            </a:r>
          </a:p>
        </p:txBody>
      </p:sp>
      <p:sp>
        <p:nvSpPr>
          <p:cNvPr id="23" name="Text Box 22"/>
          <p:cNvSpPr txBox="1"/>
          <p:nvPr/>
        </p:nvSpPr>
        <p:spPr>
          <a:xfrm>
            <a:off x="8876030" y="2296795"/>
            <a:ext cx="406400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8860155" y="2423795"/>
            <a:ext cx="1158875" cy="400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/>
              <a:t>XGBOOST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83955" y="3611880"/>
            <a:ext cx="1156970" cy="596265"/>
          </a:xfrm>
          <a:prstGeom prst="roundRect">
            <a:avLst>
              <a:gd name="adj" fmla="val 1666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8830310" y="3667125"/>
            <a:ext cx="1066800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Accuracy</a:t>
            </a:r>
          </a:p>
          <a:p>
            <a:r>
              <a:rPr lang="en-US"/>
              <a:t>       76%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600"/>
          </a:xfrm>
        </p:spPr>
        <p:txBody>
          <a:bodyPr>
            <a:normAutofit fontScale="90000"/>
          </a:bodyPr>
          <a:lstStyle/>
          <a:p>
            <a:pPr marL="0" indent="0">
              <a:buFont typeface="Arial" panose="020B0604020202020204" pitchFamily="34" charset="0"/>
            </a:pPr>
            <a:r>
              <a:rPr lang="en-US" altLang="en-US" sz="4445" b="1"/>
              <a:t>Model 1 of 5 — Naive Bayes</a:t>
            </a:r>
            <a:r>
              <a:rPr lang="en-US" altLang="en-US" sz="2000"/>
              <a:t/>
            </a:r>
            <a:br>
              <a:rPr lang="en-US" altLang="en-US" sz="2000"/>
            </a:br>
            <a:r>
              <a:rPr lang="en-US" altLang="en-US" sz="2000"/>
              <a:t>Probabilistic Classifier — Baseline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50368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sz="3335" b="1"/>
              <a:t>Model Inferences &amp; Observations</a:t>
            </a:r>
          </a:p>
          <a:p>
            <a:r>
              <a:rPr lang="en-US" altLang="en-US" sz="1800"/>
              <a:t>Fastest model with very low training time</a:t>
            </a:r>
          </a:p>
          <a:p>
            <a:r>
              <a:rPr lang="en-US" altLang="en-US" sz="1800"/>
              <a:t>Works well as a baseline for comparison</a:t>
            </a:r>
          </a:p>
          <a:p>
            <a:r>
              <a:rPr lang="en-US" altLang="en-US" sz="1800"/>
              <a:t>Performs best on Positive class due to higher frequency</a:t>
            </a:r>
          </a:p>
          <a:p>
            <a:r>
              <a:rPr lang="en-US" altLang="en-US" sz="1800"/>
              <a:t>Struggles with Neutral class due to strong independence assumption</a:t>
            </a:r>
          </a:p>
          <a:p>
            <a:r>
              <a:rPr lang="en-US" altLang="en-US" sz="1800"/>
              <a:t>Moderate Precision and Recall compared to other models</a:t>
            </a:r>
          </a:p>
          <a:p>
            <a:r>
              <a:rPr lang="en-US" altLang="en-US" sz="1800"/>
              <a:t>Simple yet effective for basic sentiment classification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Rounded Rectangle 3"/>
          <p:cNvSpPr/>
          <p:nvPr/>
        </p:nvSpPr>
        <p:spPr>
          <a:xfrm>
            <a:off x="1082675" y="1474470"/>
            <a:ext cx="9434830" cy="9251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475105"/>
            <a:ext cx="9067800" cy="822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/>
              <a:t>How It Works</a:t>
            </a:r>
          </a:p>
          <a:p>
            <a:r>
              <a:rPr lang="en-US" altLang="en-US"/>
              <a:t>Applies Bayes theorem assuming independence between TF-IDF features. Calculates the probability of each sentiment class based on the words present in the review.</a:t>
            </a:r>
          </a:p>
        </p:txBody>
      </p:sp>
      <p:sp>
        <p:nvSpPr>
          <p:cNvPr id="6" name="Rectangles 5"/>
          <p:cNvSpPr/>
          <p:nvPr/>
        </p:nvSpPr>
        <p:spPr>
          <a:xfrm>
            <a:off x="972185" y="5866765"/>
            <a:ext cx="8796655" cy="6451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971550" y="6057900"/>
            <a:ext cx="8510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Accuracy: 71% | F1 (Macro): 0.66 | Best Class: Positive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600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</a:pPr>
            <a:r>
              <a:rPr lang="en-US" altLang="en-US" b="1">
                <a:sym typeface="+mn-ea"/>
              </a:rPr>
              <a:t>Model 2 of 5 — Logistic Regression</a:t>
            </a:r>
            <a:br>
              <a:rPr lang="en-US" altLang="en-US" b="1">
                <a:sym typeface="+mn-ea"/>
              </a:rPr>
            </a:br>
            <a:r>
              <a:rPr lang="en-US" altLang="en-US" sz="2000">
                <a:sym typeface="+mn-ea"/>
              </a:rPr>
              <a:t>Linear Classifier — Strong Baseline Model</a:t>
            </a:r>
            <a:endParaRPr 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5036820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sz="3335" b="1"/>
              <a:t>Model Inferences &amp; Observations</a:t>
            </a:r>
          </a:p>
          <a:p>
            <a:r>
              <a:rPr lang="en-US" altLang="en-US"/>
              <a:t>Better performance than Naive Bayes due to no independence assumption</a:t>
            </a:r>
          </a:p>
          <a:p>
            <a:r>
              <a:rPr lang="en-US" altLang="en-US"/>
              <a:t>Handles Neutral class better than Naive Bayes</a:t>
            </a:r>
          </a:p>
          <a:p>
            <a:r>
              <a:rPr lang="en-US" altLang="en-US"/>
              <a:t>Works well with high-dimensional sparse data</a:t>
            </a:r>
          </a:p>
          <a:p>
            <a:r>
              <a:rPr lang="en-US" altLang="en-US"/>
              <a:t>Balanced Precision and Recall across classes</a:t>
            </a:r>
          </a:p>
          <a:p>
            <a:r>
              <a:rPr lang="en-US" altLang="en-US"/>
              <a:t>Stable and interpretable model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" name="Rounded Rectangle 3"/>
          <p:cNvSpPr/>
          <p:nvPr/>
        </p:nvSpPr>
        <p:spPr>
          <a:xfrm>
            <a:off x="1082675" y="1474470"/>
            <a:ext cx="9434830" cy="9251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475105"/>
            <a:ext cx="9067800" cy="822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/>
              <a:t>How It Works</a:t>
            </a:r>
          </a:p>
          <a:p>
            <a:r>
              <a:rPr lang="en-US" altLang="en-US"/>
              <a:t>Uses a linear decision boundary to classify sentiments based on TF-IDF features. Predicts probabilities using a logistic (sigmoid) function.</a:t>
            </a:r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972185" y="5866765"/>
            <a:ext cx="8796655" cy="6451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971550" y="6057900"/>
            <a:ext cx="8510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>
                <a:sym typeface="+mn-ea"/>
              </a:rPr>
              <a:t>Accuracy: 78% | F1 (Macro): 0.80 | Best class: Positive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Model 3 of 5 — Support Vector Machine (SVM)</a:t>
            </a:r>
            <a:br>
              <a:rPr lang="en-US" altLang="en-US" dirty="0"/>
            </a:br>
            <a:r>
              <a:rPr lang="en-US" altLang="en-US" sz="2000" dirty="0">
                <a:sym typeface="+mn-ea"/>
              </a:rPr>
              <a:t>High-Performance Classifier — Final Model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8130"/>
            <a:ext cx="10515600" cy="4339149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837565" y="1838129"/>
            <a:ext cx="10515601" cy="1001273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1035050" y="1691004"/>
            <a:ext cx="9905999" cy="12574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 b="1" dirty="0"/>
          </a:p>
          <a:p>
            <a:r>
              <a:rPr lang="en-US" altLang="en-US" b="1" dirty="0"/>
              <a:t>How It Works:</a:t>
            </a:r>
          </a:p>
          <a:p>
            <a:r>
              <a:rPr lang="en-US" altLang="en-US" dirty="0"/>
              <a:t>Finds the optimal hyperplane that maximizes the margin between sentiment classes in high-dimensional </a:t>
            </a:r>
          </a:p>
          <a:p>
            <a:r>
              <a:rPr lang="en-US" altLang="en-US" dirty="0"/>
              <a:t>TF-IDF space.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59166" y="2839403"/>
            <a:ext cx="10088245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Model Inferences &amp;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Achieved highest accuracy among all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Handles high-dimensional text data very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Strong performance across all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Better generalization on unseen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Slightly slower training but highly accurate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4861560"/>
            <a:ext cx="10515600" cy="9480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274445" y="5036820"/>
            <a:ext cx="8382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Accuracy: 79% | F1 (Macro): 0.73 | Best class: Positive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/>
              <a:t>Model 4 of 5 — Random Forest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 sz="2000"/>
              <a:t>Ensemble Learning — Robust Model</a:t>
            </a:r>
            <a:br>
              <a:rPr lang="en-US" altLang="en-US" sz="2000"/>
            </a:br>
            <a:endParaRPr lang="en-US" alt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7500"/>
            <a:ext cx="10515600" cy="4589780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837565" y="1691005"/>
            <a:ext cx="10556875" cy="8991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35050" y="1691005"/>
            <a:ext cx="10200005" cy="778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/>
              <a:t>How It Works:</a:t>
            </a:r>
          </a:p>
          <a:p>
            <a:r>
              <a:rPr lang="en-US" altLang="en-US"/>
              <a:t>Builds multiple decision trees and combines their predictions to improve accuracy and reduce overfitting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083310" y="2725420"/>
            <a:ext cx="10088245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Model Inferences &amp;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Handles non-linear patterns better than linear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More robust to noise in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Slightly higher computation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Performs well but less effective than SVM for text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Good balance between bias and variance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4861560"/>
            <a:ext cx="10515600" cy="9480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274445" y="5036820"/>
            <a:ext cx="8382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Accuracy: 78% | F1 (Macro): 0.72 | Best class: Positive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Model 5 of 5 — XGBoost</a:t>
            </a:r>
            <a:br>
              <a:rPr lang="en-US" altLang="en-US"/>
            </a:br>
            <a:r>
              <a:rPr lang="en-US" altLang="en-US" sz="2000"/>
              <a:t>Boosting Algorithm — Optimized Performance</a:t>
            </a:r>
            <a:br>
              <a:rPr lang="en-US" altLang="en-US" sz="2000"/>
            </a:br>
            <a:endParaRPr lang="en-US" alt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7500"/>
            <a:ext cx="10515600" cy="4589780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837565" y="1691005"/>
            <a:ext cx="10556875" cy="8991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35050" y="1691005"/>
            <a:ext cx="10200005" cy="778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/>
              <a:t>How It Works:</a:t>
            </a:r>
          </a:p>
          <a:p>
            <a:r>
              <a:rPr lang="en-US" altLang="en-US"/>
              <a:t>Builds multiple decision trees and combines their predictions to improve accuracy and reduce overfittinHow It Works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083310" y="2725420"/>
            <a:ext cx="10152380" cy="1870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Model Inferences &amp;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High performance close to 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Handles complex relationships in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Requires parameter tuning for best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Computationally more intensive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Strong Precision and 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4861560"/>
            <a:ext cx="10515600" cy="9480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274445" y="5036820"/>
            <a:ext cx="8382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Accuracy: 77% | F1 (Macro): 0.75 | Best class: Positive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FINAL MODEL SELECTED-</a:t>
            </a:r>
            <a:r>
              <a:rPr lang="en-US" altLang="en-US" b="1"/>
              <a:t>Support Vector Machine (SVM)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b="1"/>
              <a:t>Why SVM?</a:t>
            </a:r>
          </a:p>
          <a:p>
            <a:r>
              <a:rPr lang="en-US" altLang="en-US" sz="2400"/>
              <a:t>Achieved highest accuracy among all models</a:t>
            </a:r>
          </a:p>
          <a:p>
            <a:r>
              <a:rPr lang="en-US" altLang="en-US" sz="2400"/>
              <a:t>Performs well with high-dimensional text data</a:t>
            </a:r>
          </a:p>
          <a:p>
            <a:r>
              <a:rPr lang="en-US" altLang="en-US" sz="2400"/>
              <a:t>Provides better generalization on unseen data</a:t>
            </a:r>
          </a:p>
          <a:p>
            <a:r>
              <a:rPr lang="en-US" altLang="en-US" sz="2400"/>
              <a:t>Handles class separation effectively</a:t>
            </a:r>
          </a:p>
          <a:p>
            <a:r>
              <a:rPr lang="en-US" altLang="en-US" sz="2400"/>
              <a:t>Delivers balanced Precision and Recall</a:t>
            </a:r>
          </a:p>
          <a:p>
            <a:r>
              <a:rPr lang="en-US" altLang="en-US" sz="2400"/>
              <a:t>SVM is the most reliable and efficient model for sentiment classification</a:t>
            </a:r>
          </a:p>
          <a:p>
            <a:r>
              <a:rPr lang="en-US" altLang="en-US" sz="2400"/>
              <a:t>Selected as the final model for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charset="0"/>
                <a:ea typeface="Inter Bold" pitchFamily="34" charset="-122"/>
                <a:cs typeface="Times New Roman" panose="02020603050405020304" charset="0"/>
                <a:sym typeface="+mn-ea"/>
              </a:rPr>
              <a:t>Model Evaluation :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confusion_matrix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691005"/>
            <a:ext cx="5801995" cy="43516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206615" y="2051685"/>
            <a:ext cx="4147185" cy="3361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Used Confusion Matrix to evaluate model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Compared actual vs predicted sentiments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High values on diagonal show correct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Model performs well across all sentiment classes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457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 descr="roc_curv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105" y="1691005"/>
            <a:ext cx="5801995" cy="43516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517130" y="2436495"/>
            <a:ext cx="313563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ROC curve shows model performance across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Compares True Positive Rate vs False Positive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Curve closer to top-left indicates better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Model demonstrates good classification 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ym typeface="+mn-ea"/>
              </a:rPr>
              <a:t>Technical Observations: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TF-IDF effectively converted text into numerical features</a:t>
            </a:r>
          </a:p>
          <a:p>
            <a:r>
              <a:rPr lang="en-US" altLang="en-US"/>
              <a:t>SVM performed well for text classification tasks</a:t>
            </a:r>
          </a:p>
          <a:p>
            <a:r>
              <a:rPr lang="en-US" altLang="en-US"/>
              <a:t>Model handled high-dimensional data efficiently</a:t>
            </a:r>
          </a:p>
          <a:p>
            <a:r>
              <a:rPr lang="en-US" altLang="en-US"/>
              <a:t>Balanced performance observed across sentiment classes</a:t>
            </a:r>
          </a:p>
          <a:p>
            <a:r>
              <a:rPr lang="en-US" altLang="en-US"/>
              <a:t>Data preprocessing significantly improved model accuracy</a:t>
            </a:r>
          </a:p>
          <a:p>
            <a:r>
              <a:rPr lang="en-US" altLang="en-US"/>
              <a:t>Removal of noise and duplicates enhanced predictions</a:t>
            </a:r>
          </a:p>
          <a:p>
            <a:r>
              <a:rPr lang="en-US" altLang="en-US"/>
              <a:t>Model showed good generalization on test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790"/>
          </a:xfrm>
        </p:spPr>
        <p:txBody>
          <a:bodyPr>
            <a:normAutofit/>
          </a:bodyPr>
          <a:lstStyle/>
          <a:p>
            <a:r>
              <a:rPr lang="en-US" b="1"/>
              <a:t>MODEL DEPLOYMENT:</a:t>
            </a:r>
          </a:p>
        </p:txBody>
      </p:sp>
      <p:pic>
        <p:nvPicPr>
          <p:cNvPr id="4" name="Content Placeholder 3" descr="Screenshot 2026-03-23 210250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141413" y="2724522"/>
            <a:ext cx="4878387" cy="2591643"/>
          </a:xfrm>
        </p:spPr>
      </p:pic>
      <p:pic>
        <p:nvPicPr>
          <p:cNvPr id="5" name="Content Placeholder 4" descr="Screenshot 2026-03-23 210314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6172200" y="2725366"/>
            <a:ext cx="4875213" cy="2589956"/>
          </a:xfrm>
        </p:spPr>
      </p:pic>
      <p:pic>
        <p:nvPicPr>
          <p:cNvPr id="6" name="Picture 5" descr="Screenshot 2026-03-23 2104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71550"/>
            <a:ext cx="1219200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Screenshot 2026-03-23 21031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420" y="715010"/>
            <a:ext cx="10714990" cy="54622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Screenshot 2026-03-23 21025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135" y="873125"/>
            <a:ext cx="11205845" cy="53041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ym typeface="+mn-ea"/>
              </a:rPr>
              <a:t>Observations of Model Deployment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Application runs smoothly on Streamlit interface</a:t>
            </a:r>
          </a:p>
          <a:p>
            <a:r>
              <a:rPr lang="en-US" altLang="en-US"/>
              <a:t>Real-time sentiment prediction achieved</a:t>
            </a:r>
          </a:p>
          <a:p>
            <a:r>
              <a:rPr lang="en-US" altLang="en-US"/>
              <a:t>Fast response for user input</a:t>
            </a:r>
          </a:p>
          <a:p>
            <a:r>
              <a:rPr lang="en-US" altLang="en-US"/>
              <a:t>Model correctly classifies most reviews</a:t>
            </a:r>
          </a:p>
          <a:p>
            <a:r>
              <a:rPr lang="en-US" altLang="en-US"/>
              <a:t>User-friendly and easy to interact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187"/>
            <a:ext cx="9905998" cy="700377"/>
          </a:xfrm>
        </p:spPr>
        <p:txBody>
          <a:bodyPr/>
          <a:lstStyle/>
          <a:p>
            <a:r>
              <a:rPr lang="en-US" b="1" dirty="0"/>
              <a:t>CHALLENGES FACED DURING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3190"/>
            <a:ext cx="10515600" cy="47840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/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838835" y="1393825"/>
            <a:ext cx="4959350" cy="12268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6495415" y="1393190"/>
            <a:ext cx="4858385" cy="12268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>
            <p:custDataLst>
              <p:tags r:id="rId3"/>
            </p:custDataLst>
          </p:nvPr>
        </p:nvSpPr>
        <p:spPr>
          <a:xfrm>
            <a:off x="838200" y="3117850"/>
            <a:ext cx="4959350" cy="12268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838200" y="4715510"/>
            <a:ext cx="4959350" cy="12268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6495415" y="4715510"/>
            <a:ext cx="4959350" cy="12268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6394450" y="3001645"/>
            <a:ext cx="4959350" cy="12268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Box 11"/>
          <p:cNvSpPr txBox="1"/>
          <p:nvPr>
            <p:custDataLst>
              <p:tags r:id="rId7"/>
            </p:custDataLst>
          </p:nvPr>
        </p:nvSpPr>
        <p:spPr>
          <a:xfrm>
            <a:off x="839470" y="1393825"/>
            <a:ext cx="4800600" cy="1649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/>
              <a:t>Data Quality 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Presence of noisy and irrelevant reviews affected model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Inconsistent formatting required extensive cleaning</a:t>
            </a:r>
          </a:p>
        </p:txBody>
      </p:sp>
      <p:sp>
        <p:nvSpPr>
          <p:cNvPr id="14" name="Text Box 13"/>
          <p:cNvSpPr txBox="1"/>
          <p:nvPr>
            <p:custDataLst>
              <p:tags r:id="rId8"/>
            </p:custDataLst>
          </p:nvPr>
        </p:nvSpPr>
        <p:spPr>
          <a:xfrm>
            <a:off x="6553200" y="1468120"/>
            <a:ext cx="4800600" cy="1649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/>
              <a:t>Short Text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Many reviews were very short (e.g., “Good”, “Bad”)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Limited context made sentiment classification difficult</a:t>
            </a:r>
          </a:p>
        </p:txBody>
      </p:sp>
      <p:sp>
        <p:nvSpPr>
          <p:cNvPr id="15" name="Text Box 14"/>
          <p:cNvSpPr txBox="1"/>
          <p:nvPr>
            <p:custDataLst>
              <p:tags r:id="rId9"/>
            </p:custDataLst>
          </p:nvPr>
        </p:nvSpPr>
        <p:spPr>
          <a:xfrm>
            <a:off x="966470" y="3170555"/>
            <a:ext cx="4800600" cy="1649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/>
              <a:t>Feature Limitation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Important context like word order was not captured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Bag-of-words approach ignored sentence structure</a:t>
            </a:r>
          </a:p>
        </p:txBody>
      </p:sp>
      <p:sp>
        <p:nvSpPr>
          <p:cNvPr id="17" name="Text Box 16"/>
          <p:cNvSpPr txBox="1"/>
          <p:nvPr>
            <p:custDataLst>
              <p:tags r:id="rId10"/>
            </p:custDataLst>
          </p:nvPr>
        </p:nvSpPr>
        <p:spPr>
          <a:xfrm>
            <a:off x="6495415" y="3065780"/>
            <a:ext cx="4800600" cy="1649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/>
              <a:t>Overfitting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Some models performed well on training data but not on test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Required careful validation and tuning</a:t>
            </a:r>
          </a:p>
        </p:txBody>
      </p:sp>
      <p:sp>
        <p:nvSpPr>
          <p:cNvPr id="18" name="Text Box 17"/>
          <p:cNvSpPr txBox="1"/>
          <p:nvPr>
            <p:custDataLst>
              <p:tags r:id="rId11"/>
            </p:custDataLst>
          </p:nvPr>
        </p:nvSpPr>
        <p:spPr>
          <a:xfrm>
            <a:off x="966470" y="4796790"/>
            <a:ext cx="4800600" cy="1649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/>
              <a:t>Hyperparameter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Finding optimal parameters for models like SVM and XGBoost was time-consuming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Required multiple iterations for better performance</a:t>
            </a:r>
          </a:p>
        </p:txBody>
      </p:sp>
      <p:sp>
        <p:nvSpPr>
          <p:cNvPr id="20" name="Text Box 19"/>
          <p:cNvSpPr txBox="1"/>
          <p:nvPr>
            <p:custDataLst>
              <p:tags r:id="rId12"/>
            </p:custDataLst>
          </p:nvPr>
        </p:nvSpPr>
        <p:spPr>
          <a:xfrm>
            <a:off x="6553200" y="4820285"/>
            <a:ext cx="4800600" cy="1649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/>
              <a:t>Computational Cost: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Training multiple models increased time and resource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High-dimensional data slowed down processing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ym typeface="+mn-ea"/>
              </a:rPr>
              <a:t>Conclusion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Successfully developed sentiment analysis system using NLP</a:t>
            </a:r>
          </a:p>
          <a:p>
            <a:r>
              <a:rPr lang="en-US" altLang="en-US"/>
              <a:t>SVM model provides accurate and consistent results</a:t>
            </a:r>
          </a:p>
          <a:p>
            <a:r>
              <a:rPr lang="en-US" altLang="en-US"/>
              <a:t>Data preprocessing improved overall performance</a:t>
            </a:r>
          </a:p>
          <a:p>
            <a:r>
              <a:rPr lang="en-US" altLang="en-US"/>
              <a:t>Deployed application enables real-time predictions</a:t>
            </a:r>
          </a:p>
          <a:p>
            <a:r>
              <a:rPr lang="en-US" altLang="en-US"/>
              <a:t>Useful for understanding customer feedback and decision-making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87625"/>
            <a:ext cx="10515600" cy="3589655"/>
          </a:xfrm>
        </p:spPr>
        <p:txBody>
          <a:bodyPr/>
          <a:lstStyle/>
          <a:p>
            <a:pPr marL="0" indent="0" algn="ctr">
              <a:buNone/>
            </a:pPr>
            <a:r>
              <a:rPr lang="en-US" sz="6000" b="1"/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2,&quot;left&quot;:66,&quot;top&quot;:109.7,&quot;width&quot;:835.95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</TotalTime>
  <Words>1259</Words>
  <Application>Microsoft Office PowerPoint</Application>
  <PresentationFormat>Custom</PresentationFormat>
  <Paragraphs>229</Paragraphs>
  <Slides>27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Circuit</vt:lpstr>
      <vt:lpstr>Product Review Sentiment Analyzer</vt:lpstr>
      <vt:lpstr>MENTOR &amp; TEAM MEMBERS</vt:lpstr>
      <vt:lpstr>Project Objectives:</vt:lpstr>
      <vt:lpstr>DATASET DETAILS: </vt:lpstr>
      <vt:lpstr>EDA-Rating Distribution:</vt:lpstr>
      <vt:lpstr>EDA-SENTIMENT DISTRIBUTION:</vt:lpstr>
      <vt:lpstr>EDA-REVIEW LENGTH DISTRIBUTION:</vt:lpstr>
      <vt:lpstr>Text Preprocessing Pipeline</vt:lpstr>
      <vt:lpstr>FEATURE ENGINEERING:</vt:lpstr>
      <vt:lpstr>Train-Test Split Strategy</vt:lpstr>
      <vt:lpstr>MODEL BUILDING:</vt:lpstr>
      <vt:lpstr>Model 1 of 5 — Naive Bayes Probabilistic Classifier — Baseline Model</vt:lpstr>
      <vt:lpstr>Model 2 of 5 — Logistic Regression Linear Classifier — Strong Baseline Model</vt:lpstr>
      <vt:lpstr> Model 3 of 5 — Support Vector Machine (SVM) High-Performance Classifier — Final Model </vt:lpstr>
      <vt:lpstr>Model 4 of 5 — Random Forest Ensemble Learning — Robust Model </vt:lpstr>
      <vt:lpstr>Model 5 of 5 — XGBoost Boosting Algorithm — Optimized Performance </vt:lpstr>
      <vt:lpstr>FINAL MODEL SELECTED-Support Vector Machine (SVM)</vt:lpstr>
      <vt:lpstr>Model Evaluation :</vt:lpstr>
      <vt:lpstr>Slide 19</vt:lpstr>
      <vt:lpstr>Technical Observations:</vt:lpstr>
      <vt:lpstr>MODEL DEPLOYMENT:</vt:lpstr>
      <vt:lpstr>Slide 22</vt:lpstr>
      <vt:lpstr>Slide 23</vt:lpstr>
      <vt:lpstr>Observations of Model Deployment</vt:lpstr>
      <vt:lpstr>CHALLENGES FACED DURING PROJECT</vt:lpstr>
      <vt:lpstr>Conclusion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E-commerce Customer Reviews using NLP</dc:title>
  <dc:creator>admin</dc:creator>
  <cp:lastModifiedBy>admin</cp:lastModifiedBy>
  <cp:revision>7</cp:revision>
  <dcterms:created xsi:type="dcterms:W3CDTF">2026-03-23T00:10:00Z</dcterms:created>
  <dcterms:modified xsi:type="dcterms:W3CDTF">2026-03-25T06:19:57Z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D74B3F078E45482AB9A24E3DFF952D18_13</vt:lpwstr>
  </property>
  <property fmtid="{D5CDD505-2E9C-101B-9397-08002B2CF9AE}" pid="3" name="KSOProductBuildVer">
    <vt:lpwstr>1033-12.2.0.21936</vt:lpwstr>
  </property>
</Properties>
</file>